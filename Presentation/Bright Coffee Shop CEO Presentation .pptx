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pumelelo Mkolo" userId="38fb3267-f162-4c43-83ee-25680c779746" providerId="ADAL" clId="{9D732058-CECF-41A3-A3A6-8B3562EFAD50}"/>
    <pc:docChg chg="modSld">
      <pc:chgData name="Nompumelelo Mkolo" userId="38fb3267-f162-4c43-83ee-25680c779746" providerId="ADAL" clId="{9D732058-CECF-41A3-A3A6-8B3562EFAD50}" dt="2026-10-11T19:17:12.884" v="27" actId="14100"/>
      <pc:docMkLst>
        <pc:docMk/>
      </pc:docMkLst>
      <pc:sldChg chg="modSp mod">
        <pc:chgData name="Nompumelelo Mkolo" userId="38fb3267-f162-4c43-83ee-25680c779746" providerId="ADAL" clId="{9D732058-CECF-41A3-A3A6-8B3562EFAD50}" dt="2026-10-11T19:15:25.588" v="2" actId="14100"/>
        <pc:sldMkLst>
          <pc:docMk/>
          <pc:sldMk cId="0" sldId="260"/>
        </pc:sldMkLst>
        <pc:spChg chg="mod">
          <ac:chgData name="Nompumelelo Mkolo" userId="38fb3267-f162-4c43-83ee-25680c779746" providerId="ADAL" clId="{9D732058-CECF-41A3-A3A6-8B3562EFAD50}" dt="2026-10-11T19:15:25.588" v="2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ompumelelo Mkolo" userId="38fb3267-f162-4c43-83ee-25680c779746" providerId="ADAL" clId="{9D732058-CECF-41A3-A3A6-8B3562EFAD50}" dt="2026-10-11T19:15:12.916" v="0" actId="14100"/>
        <pc:sldMkLst>
          <pc:docMk/>
          <pc:sldMk cId="0" sldId="262"/>
        </pc:sldMkLst>
        <pc:spChg chg="mod">
          <ac:chgData name="Nompumelelo Mkolo" userId="38fb3267-f162-4c43-83ee-25680c779746" providerId="ADAL" clId="{9D732058-CECF-41A3-A3A6-8B3562EFAD50}" dt="2026-10-11T19:15:12.916" v="0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ompumelelo Mkolo" userId="38fb3267-f162-4c43-83ee-25680c779746" providerId="ADAL" clId="{9D732058-CECF-41A3-A3A6-8B3562EFAD50}" dt="2026-10-11T19:17:12.884" v="27" actId="14100"/>
        <pc:sldMkLst>
          <pc:docMk/>
          <pc:sldMk cId="0" sldId="268"/>
        </pc:sldMkLst>
        <pc:spChg chg="mod">
          <ac:chgData name="Nompumelelo Mkolo" userId="38fb3267-f162-4c43-83ee-25680c779746" providerId="ADAL" clId="{9D732058-CECF-41A3-A3A6-8B3562EFAD50}" dt="2026-10-11T19:17:12.884" v="27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Nompumelelo Mkolo" userId="38fb3267-f162-4c43-83ee-25680c779746" providerId="ADAL" clId="{9D732058-CECF-41A3-A3A6-8B3562EFAD50}" dt="2026-10-11T19:16:49.329" v="23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Nompumelelo Mkolo" userId="38fb3267-f162-4c43-83ee-25680c779746" providerId="ADAL" clId="{9D732058-CECF-41A3-A3A6-8B3562EFAD50}" dt="2026-10-11T19:17:08.935" v="26" actId="1076"/>
          <ac:spMkLst>
            <pc:docMk/>
            <pc:sldMk cId="0" sldId="268"/>
            <ac:spMk id="17" creationId="{00000000-0000-0000-0000-000000000000}"/>
          </ac:spMkLst>
        </pc:spChg>
      </pc:sldChg>
      <pc:sldChg chg="modSp mod">
        <pc:chgData name="Nompumelelo Mkolo" userId="38fb3267-f162-4c43-83ee-25680c779746" providerId="ADAL" clId="{9D732058-CECF-41A3-A3A6-8B3562EFAD50}" dt="2026-10-11T19:15:40.003" v="4" actId="14100"/>
        <pc:sldMkLst>
          <pc:docMk/>
          <pc:sldMk cId="0" sldId="270"/>
        </pc:sldMkLst>
        <pc:spChg chg="mod">
          <ac:chgData name="Nompumelelo Mkolo" userId="38fb3267-f162-4c43-83ee-25680c779746" providerId="ADAL" clId="{9D732058-CECF-41A3-A3A6-8B3562EFAD50}" dt="2026-10-11T19:15:40.003" v="4" actId="14100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Displayed sales series (K)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</c:v>
                </c:pt>
                <c:pt idx="1">
                  <c:v>16.399999999999999</c:v>
                </c:pt>
                <c:pt idx="2">
                  <c:v>21.2</c:v>
                </c:pt>
                <c:pt idx="3">
                  <c:v>25.3</c:v>
                </c:pt>
                <c:pt idx="4">
                  <c:v>33.5</c:v>
                </c:pt>
                <c:pt idx="5">
                  <c:v>35.4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2D-4CAD-B0B3-19F54C8FB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Hell’s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34.799999999999997</c:v>
                </c:pt>
                <c:pt idx="1">
                  <c:v>34.1</c:v>
                </c:pt>
                <c:pt idx="2">
                  <c:v>31.1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6-4138-AE7D-9DBD2318A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Brewed Chai tea</c:v>
                </c:pt>
                <c:pt idx="1">
                  <c:v>Hot chocolate</c:v>
                </c:pt>
                <c:pt idx="2">
                  <c:v>Gourmet brewed coffee</c:v>
                </c:pt>
                <c:pt idx="3">
                  <c:v>Drip coffee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77081.95</c:v>
                </c:pt>
                <c:pt idx="1">
                  <c:v>72416</c:v>
                </c:pt>
                <c:pt idx="2">
                  <c:v>70034.600000000006</c:v>
                </c:pt>
                <c:pt idx="3">
                  <c:v>31984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31-4C5F-9DDA-80062C1FB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CEO PRESENTATION •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8894" y="702346"/>
            <a:ext cx="8894935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Bright Coffee Shop | Sales 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2367" y="1616515"/>
            <a:ext cx="81381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5043" y="1828569"/>
            <a:ext cx="7718625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C394A"/>
                </a:solidFill>
                <a:latin typeface="Aptos"/>
              </a:defRPr>
            </a:pPr>
            <a:r>
              <a:rPr dirty="0"/>
              <a:t>From transactions to confident business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5043" y="3147917"/>
            <a:ext cx="7605413" cy="3693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53636E"/>
                </a:solidFill>
                <a:latin typeface="Aptos"/>
              </a:defRPr>
            </a:pPr>
            <a:r>
              <a:rPr dirty="0"/>
              <a:t>Revenue growth • Product strategy • Store performance • Trading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1" y="5056632"/>
            <a:ext cx="6934200" cy="64376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Presented by: N. D. Mkolo  |  Data Analysis &amp; Business Intelligence</a:t>
            </a:r>
            <a:endParaRPr lang="en-US" dirty="0"/>
          </a:p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68680" y="700171"/>
            <a:ext cx="10186416" cy="5013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904" y="883729"/>
            <a:ext cx="9454896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Presentation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63040"/>
            <a:ext cx="9692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72768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581912"/>
            <a:ext cx="832104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t>Business context &amp; objective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67712"/>
            <a:ext cx="9692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386584"/>
            <a:ext cx="832104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t>Data architecture &amp; KPI methodology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72384"/>
            <a:ext cx="9692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182112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191256"/>
            <a:ext cx="832104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t>Results: revenue, products and 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77056"/>
            <a:ext cx="9692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986784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995928"/>
            <a:ext cx="832104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t>Discussion: trading patterns and opportunities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81728"/>
            <a:ext cx="9692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791456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800600"/>
            <a:ext cx="832104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t>CEO actions, implementation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4944" y="694943"/>
            <a:ext cx="9683496" cy="47130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9142" y="790738"/>
            <a:ext cx="7842504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Introduction | Why this analysis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50267"/>
            <a:ext cx="6263640" cy="132343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C394A"/>
                </a:solidFill>
                <a:latin typeface="Aptos"/>
              </a:defRPr>
            </a:pPr>
            <a:r>
              <a:rPr dirty="0"/>
              <a:t>Bright Coffee Shop’s is tasked with increasing revenue and improving product performance. Historical point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sale data can identify which products, branches and trading periods deserve management 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886200"/>
            <a:ext cx="6217920" cy="137160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3995928"/>
            <a:ext cx="594360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Decision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389120"/>
            <a:ext cx="5943600" cy="8046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Where should management focus stock, staffing and marketing to improve sales outcomes?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E415A2-D947-CC89-E013-B7CF663DE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518332"/>
            <a:ext cx="2831106" cy="29752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5063" y="701040"/>
            <a:ext cx="9936480" cy="5151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3591" y="701040"/>
            <a:ext cx="7449312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Business objectives and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63040"/>
            <a:ext cx="4681728" cy="1691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39" y="1572768"/>
            <a:ext cx="440740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Revenue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1965960"/>
            <a:ext cx="4407408" cy="1124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Which products and categories contribute most to sales?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463040"/>
            <a:ext cx="4681728" cy="1691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572768"/>
            <a:ext cx="440740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Trading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65960"/>
            <a:ext cx="4407408" cy="1124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Which days and time intervals require capacity or promotions?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47288"/>
            <a:ext cx="4681728" cy="1691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39" y="3557016"/>
            <a:ext cx="440740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Branch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39" y="3950208"/>
            <a:ext cx="4407408" cy="1124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Where is revenue concentrated across the three locations?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447288"/>
            <a:ext cx="4681728" cy="1691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3557016"/>
            <a:ext cx="440740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Actionable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950208"/>
            <a:ext cx="4407408" cy="1124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Which initiatives should be tested, measured and scaled?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94960"/>
            <a:ext cx="8995954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Scope: historical sales analytics; profitability and customer</a:t>
            </a:r>
            <a:r>
              <a:rPr lang="en-US" dirty="0"/>
              <a:t> </a:t>
            </a:r>
            <a:r>
              <a:rPr dirty="0"/>
              <a:t>level </a:t>
            </a:r>
            <a:r>
              <a:rPr dirty="0" err="1"/>
              <a:t>behaviour</a:t>
            </a:r>
            <a:r>
              <a:rPr dirty="0"/>
              <a:t> require additional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81169" y="709083"/>
            <a:ext cx="9989667" cy="46717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26691" y="231431"/>
            <a:ext cx="7574955" cy="24622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rPr dirty="0"/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7752" y="813816"/>
            <a:ext cx="7479357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t>Methodology | Miro to Databricks to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6152" y="1856231"/>
            <a:ext cx="1508760" cy="2404873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2263" y="1975838"/>
            <a:ext cx="16276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7432" y="2359152"/>
            <a:ext cx="1240319" cy="110543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Excel sales workbook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Transactions • date/time •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834640"/>
            <a:ext cx="219456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856231"/>
            <a:ext cx="1801368" cy="2404873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4" y="1965960"/>
            <a:ext cx="16276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359152"/>
            <a:ext cx="1627632" cy="19476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CSV validation and ETL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Clean types • prices •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834640"/>
            <a:ext cx="219456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1768" y="1856231"/>
            <a:ext cx="1764792" cy="2404873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1965960"/>
            <a:ext cx="16276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359152"/>
            <a:ext cx="1627632" cy="19476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Bronze → Silver → Gold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Raw • cleaned • KPI-ready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834640"/>
            <a:ext cx="219456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856231"/>
            <a:ext cx="1792224" cy="2450593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1965960"/>
            <a:ext cx="16276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359152"/>
            <a:ext cx="1627632" cy="19476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SQL + Excel + Power BI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Revenue • product • location •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834640"/>
            <a:ext cx="219456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58B4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133" y="1856231"/>
            <a:ext cx="1765227" cy="2450593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48216" y="1946366"/>
            <a:ext cx="16276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6935" y="2313432"/>
            <a:ext cx="1627632" cy="19476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CEO action plan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Stock • </a:t>
            </a:r>
            <a:r>
              <a:rPr dirty="0" err="1"/>
              <a:t>labour</a:t>
            </a:r>
            <a:r>
              <a:rPr dirty="0"/>
              <a:t> • offers •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4669565"/>
            <a:ext cx="9628415" cy="5232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3636E"/>
                </a:solidFill>
                <a:latin typeface="Aptos"/>
              </a:defRPr>
            </a:pPr>
            <a:r>
              <a:rPr dirty="0"/>
              <a:t>Core calculation: sales revenue = unit price × transaction quantity. The case study requests 30</a:t>
            </a:r>
            <a:r>
              <a:rPr lang="en-US" dirty="0"/>
              <a:t> </a:t>
            </a:r>
            <a:r>
              <a:rPr dirty="0"/>
              <a:t>minute (or 3</a:t>
            </a:r>
            <a:r>
              <a:rPr lang="en-US" dirty="0"/>
              <a:t> </a:t>
            </a:r>
            <a:r>
              <a:rPr dirty="0"/>
              <a:t>hour) transaction-time buckets.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4944" y="815992"/>
            <a:ext cx="9665207" cy="4533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1092" y="815992"/>
            <a:ext cx="6838406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Executive results | Performance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618488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901952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$698,812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423160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Reported: $698,812.33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508760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1618488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01952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149,116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23160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Approx. 149.12K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1508760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61304" y="1618488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1901952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214,470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2423160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Approx. 214.47K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508760"/>
            <a:ext cx="2139697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1" y="1618488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AVERAGE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1" y="1901952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$4.69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2423160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Revenue ÷ transactions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" y="3127248"/>
            <a:ext cx="9372600" cy="160020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236976"/>
            <a:ext cx="909828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CEO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30168"/>
            <a:ext cx="9098280" cy="103327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The business generated approximately $699K from 149K transactions. Basket value is modest; cross-selling and product mix are logical areas for controlled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88869" y="949234"/>
            <a:ext cx="8856616" cy="464166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4656" y="833040"/>
            <a:ext cx="6795734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Results | Sales momentum over six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445923"/>
              </p:ext>
            </p:extLst>
          </p:nvPr>
        </p:nvGraphicFramePr>
        <p:xfrm>
          <a:off x="1393370" y="1417320"/>
          <a:ext cx="6196149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60495" y="1591056"/>
            <a:ext cx="2235490" cy="3146407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8683" y="1678974"/>
            <a:ext cx="2039114" cy="32316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What the graph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2093976"/>
            <a:ext cx="1947672" cy="174919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The displayed monthly series increases from 17.3K in January to 35.4K in June.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Management should investigate demand drivers and repeatable sales practices.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45719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48087" y="1037844"/>
            <a:ext cx="9137033" cy="44119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2086" y="375905"/>
            <a:ext cx="8197814" cy="24622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rPr dirty="0"/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8791" y="886098"/>
            <a:ext cx="7179347" cy="49050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Results | Revenue contribution by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223619"/>
              </p:ext>
            </p:extLst>
          </p:nvPr>
        </p:nvGraphicFramePr>
        <p:xfrm>
          <a:off x="1706880" y="1618488"/>
          <a:ext cx="5836920" cy="371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618488"/>
            <a:ext cx="2712720" cy="2979638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3770" y="1728216"/>
            <a:ext cx="2020389" cy="32316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5354" y="2121408"/>
            <a:ext cx="2235926" cy="156453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Hell’s Kitchen leads with 34.8% of revenue, but all three branches contribute materially.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Compare operating costs and conversion before reallocating resources.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96128"/>
            <a:ext cx="9418320" cy="32918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B58B4C"/>
                </a:solidFill>
                <a:latin typeface="Aptos"/>
              </a:defRPr>
            </a:pPr>
            <a:r>
              <a:t>CEO decision: pilot proven selling practices across stores while tracking revenue per labour hour.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4944" y="694944"/>
            <a:ext cx="10007890" cy="4654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3032" y="762149"/>
            <a:ext cx="9028328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Results | Selected high-value product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08760"/>
          <a:ext cx="67665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609344"/>
            <a:ext cx="2743200" cy="338328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6022" y="1719072"/>
            <a:ext cx="1968137" cy="32918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112264"/>
            <a:ext cx="2468880" cy="28163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Among the four displayed product types, brewed Chai tea has the highest revenue ($77.1K).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Maintain availability of proven sellers and test complementary items.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39" y="896982"/>
            <a:ext cx="9653451" cy="493822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8968" y="713232"/>
            <a:ext cx="8879695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Results | Trading-day and category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638082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BUSIEST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224" y="1985554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rPr dirty="0"/>
              <a:t>Wednesday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32888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Power BI KPI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618488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728216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TOP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11680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Hell’s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532888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Power BI KPI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18488"/>
            <a:ext cx="22677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728216"/>
            <a:ext cx="2057400" cy="2468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36E"/>
                </a:solidFill>
                <a:latin typeface="Aptos"/>
              </a:defRPr>
            </a:pPr>
            <a:r>
              <a:t>PRODUCT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011680"/>
            <a:ext cx="2084831" cy="448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C394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532888"/>
            <a:ext cx="2084831" cy="173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58B4C"/>
                </a:solidFill>
                <a:latin typeface="Aptos"/>
              </a:defRPr>
            </a:pPr>
            <a:r>
              <a:t>Data Studio KPI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429000"/>
            <a:ext cx="9372600" cy="1581912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38728"/>
            <a:ext cx="909828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Operating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31920"/>
            <a:ext cx="9098280" cy="101498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Review hourly transaction profiles within Wednesday and other weekdays before changing rosters. Use slow-period promotions only after validating the relevant time buckets.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5167527"/>
            <a:ext cx="9326880" cy="46166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rPr dirty="0"/>
              <a:t>Evidence gap: exact peak 30</a:t>
            </a:r>
            <a:r>
              <a:rPr lang="en-US" dirty="0"/>
              <a:t> </a:t>
            </a:r>
            <a:r>
              <a:rPr dirty="0"/>
              <a:t>minute intervals are requested in the case-study brief but not confirmed in the supplied static dashboard extracts.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7645" y="870857"/>
            <a:ext cx="10232571" cy="44143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1011" y="731520"/>
            <a:ext cx="7561892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Discussion | Opportunities and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4645152" cy="1664208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43708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Basket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4370832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Test coffee-and-pastry combinations; compare average order value before and after.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463040"/>
            <a:ext cx="4645152" cy="1664208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572768"/>
            <a:ext cx="43708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Branch replication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65960"/>
            <a:ext cx="4370832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Document Hell’s Kitchen practices and test them in the other two stores.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29000"/>
            <a:ext cx="4645152" cy="1664208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38728"/>
            <a:ext cx="43708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Inventory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31920"/>
            <a:ext cx="4370832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Prioritise high-demand product availability while monitoring waste and stock-outs.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429000"/>
            <a:ext cx="4645152" cy="1664208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3538728"/>
            <a:ext cx="4370832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Data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931920"/>
            <a:ext cx="4370832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No verified gross margin, labour cost, stock-out or customer cohort data is provided.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93192" y="594360"/>
            <a:ext cx="10680192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149840" cy="5943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t>CEO decisions | Prioritised action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1560" cy="512064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932688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C394A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508760"/>
            <a:ext cx="3566160" cy="512064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2" y="1636776"/>
            <a:ext cx="3447288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C394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508760"/>
            <a:ext cx="2697480" cy="512064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05272" y="1636776"/>
            <a:ext cx="2578608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C394A"/>
                </a:solidFill>
                <a:latin typeface="Aptos"/>
              </a:defRPr>
            </a:pPr>
            <a:r>
              <a:t>Owner /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08760"/>
            <a:ext cx="2377440" cy="512064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636776"/>
            <a:ext cx="2258568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C394A"/>
                </a:solidFill>
                <a:latin typeface="Aptos"/>
              </a:defRPr>
            </a:pPr>
            <a:r>
              <a:t>Decision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112264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221992"/>
            <a:ext cx="9509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58B4C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2112264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3392" y="2221992"/>
            <a:ext cx="34655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Protect top sellers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112264"/>
            <a:ext cx="2697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5272" y="2221992"/>
            <a:ext cx="259689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Operations / availability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12264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2221992"/>
            <a:ext cx="227685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Weekly stock-out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2743200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2852928"/>
            <a:ext cx="9509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58B4C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2743200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93392" y="2852928"/>
            <a:ext cx="34655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Increase basket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743200"/>
            <a:ext cx="2697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5272" y="2852928"/>
            <a:ext cx="259689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Marketing / avg.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743200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2852928"/>
            <a:ext cx="227685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4-week bundle 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374136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3483864"/>
            <a:ext cx="9509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58B4C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374136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93392" y="3483864"/>
            <a:ext cx="34655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Replicate best store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3374136"/>
            <a:ext cx="2697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05272" y="3483864"/>
            <a:ext cx="259689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Store leads / sales per hour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374136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48472" y="3483864"/>
            <a:ext cx="227685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Pilot in two branches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005072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114800"/>
            <a:ext cx="9509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58B4C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40" y="4005072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93392" y="4114800"/>
            <a:ext cx="34655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Target slow periods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32120" y="4005072"/>
            <a:ext cx="2697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05272" y="4114800"/>
            <a:ext cx="259689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Marketing / hourly sales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4005072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48472" y="4114800"/>
            <a:ext cx="227685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Time-bucket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4636008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" y="4745736"/>
            <a:ext cx="9509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58B4C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4636008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93392" y="4745736"/>
            <a:ext cx="346557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Automate reporting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32120" y="4636008"/>
            <a:ext cx="2697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05272" y="4745736"/>
            <a:ext cx="259689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Data team / refresh success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4636008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48472" y="4745736"/>
            <a:ext cx="2276856" cy="3840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C394A"/>
                </a:solidFill>
                <a:latin typeface="Aptos"/>
              </a:defRPr>
            </a:pPr>
            <a:r>
              <a:t>Daily KPI quality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7314" y="903105"/>
            <a:ext cx="10054046" cy="43338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166" y="1046566"/>
            <a:ext cx="8702040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Implementation | 90-day management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2990088" cy="2834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27157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DAYS 01–30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2715768" cy="2267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Validate and baseline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Reconcile KPIs; define time buckets; measure store-level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4" y="1691640"/>
            <a:ext cx="2990088" cy="2834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06824" y="1801368"/>
            <a:ext cx="27157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2194560"/>
            <a:ext cx="2715768" cy="2267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Pilot improvements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Run bundle, merchandising and staffing pilots with control periods.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691640"/>
            <a:ext cx="2990088" cy="2834640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1801368"/>
            <a:ext cx="27157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194560"/>
            <a:ext cx="2715768" cy="226771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Evaluate and scale</a:t>
            </a:r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Compare uplift, margin and operational impact; scale winning pilots.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396" y="5316709"/>
            <a:ext cx="10105644" cy="5232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C394A"/>
                </a:solidFill>
                <a:latin typeface="Aptos"/>
              </a:defRPr>
            </a:pPr>
            <a:r>
              <a:rPr dirty="0"/>
              <a:t>CEO governance: review weekly leading indicators and monthly financial outcomes. Do not infer profit from sales revenue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62149" y="786384"/>
            <a:ext cx="9927771" cy="490031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64592"/>
            <a:ext cx="1042416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t>EXECUTIVE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1855" y="786384"/>
            <a:ext cx="8428025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Conclusion | Decisions supported by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941832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C394A"/>
                </a:solidFill>
                <a:latin typeface="Aptos"/>
              </a:defRPr>
            </a:pPr>
            <a:r>
              <a:t>Bright Coffee Shop has a meaningful sales base, a balanced three-store footprint and identifiable high-revenue product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816352"/>
            <a:ext cx="4590288" cy="1042415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926080"/>
            <a:ext cx="43159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319272"/>
            <a:ext cx="4315968" cy="4754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Keep high-demand products available and monitor stock-outs.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9592" y="2816352"/>
            <a:ext cx="4590288" cy="1042415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16752" y="2926080"/>
            <a:ext cx="43159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3319272"/>
            <a:ext cx="4315968" cy="4754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Increase basket value through measured, low-risk experiments.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050791"/>
            <a:ext cx="4590288" cy="1042415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4160520"/>
            <a:ext cx="43159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553712"/>
            <a:ext cx="4315968" cy="4754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Validate trading-hour patterns and replicate store best practices.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9592" y="4050791"/>
            <a:ext cx="4590288" cy="1042415"/>
          </a:xfrm>
          <a:prstGeom prst="roundRect">
            <a:avLst/>
          </a:prstGeom>
          <a:solidFill>
            <a:srgbClr val="EAF6FB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4160520"/>
            <a:ext cx="4315968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394A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4553712"/>
            <a:ext cx="4315968" cy="4754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3636E"/>
                </a:solidFill>
                <a:latin typeface="Aptos"/>
              </a:defRPr>
            </a:pPr>
            <a:r>
              <a:t>Automate accurate reporting and add margin, waste and labour KPIs.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 Coffee Corner with Gold Accen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4095" y="395478"/>
            <a:ext cx="7832054" cy="24622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58B4C"/>
                </a:solidFill>
                <a:latin typeface="Aptos"/>
              </a:defRPr>
            </a:pPr>
            <a:r>
              <a:rPr dirty="0"/>
              <a:t>BRIGHT COFFEE SHOP • CEO PERFORMANCE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4852" y="779526"/>
            <a:ext cx="7315200" cy="492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C394A"/>
                </a:solidFill>
                <a:latin typeface="Aptos"/>
              </a:defRPr>
            </a:pPr>
            <a:r>
              <a:rPr dirty="0"/>
              <a:t>Thank you |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6537960"/>
            <a:ext cx="9144000" cy="16459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3636E"/>
                </a:solidFill>
                <a:latin typeface="Aptos"/>
              </a:defRPr>
            </a:pPr>
            <a:r>
              <a:t>BRIGHT COFFEE SHOP  •  CEO DECISION BRIEF  •  JAN–JUN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10528"/>
            <a:ext cx="502920" cy="20116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58B4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9908" y="1623060"/>
            <a:ext cx="83667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4852" y="1792224"/>
            <a:ext cx="7498079" cy="8229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4000" b="1">
                <a:solidFill>
                  <a:srgbClr val="1C394A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4852" y="2770632"/>
            <a:ext cx="7315200" cy="5303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53636E"/>
                </a:solidFill>
                <a:latin typeface="Aptos"/>
              </a:defRPr>
            </a:pPr>
            <a:r>
              <a:rPr dirty="0"/>
              <a:t>Turning sales information into business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4852" y="3655314"/>
            <a:ext cx="7452360" cy="8412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rPr dirty="0"/>
              <a:t>Presented by: N. D. Mkolo</a:t>
            </a:r>
          </a:p>
          <a:p>
            <a:pPr>
              <a:spcAft>
                <a:spcPts val="700"/>
              </a:spcAft>
              <a:defRPr sz="1600" b="1">
                <a:solidFill>
                  <a:srgbClr val="1C394A"/>
                </a:solidFill>
                <a:latin typeface="Aptos"/>
              </a:defRPr>
            </a:pPr>
            <a:r>
              <a:rPr dirty="0"/>
              <a:t>Data Analysis &amp; Business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1103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Nompumelelo Mkolo</dc:creator>
  <cp:keywords/>
  <dc:description>generated using python-pptx</dc:description>
  <cp:lastModifiedBy>Nompumelelo Mkolo</cp:lastModifiedBy>
  <cp:revision>2</cp:revision>
  <dcterms:created xsi:type="dcterms:W3CDTF">2013-01-27T09:14:16Z</dcterms:created>
  <dcterms:modified xsi:type="dcterms:W3CDTF">2026-10-11T19:17:17Z</dcterms:modified>
  <cp:category/>
</cp:coreProperties>
</file>